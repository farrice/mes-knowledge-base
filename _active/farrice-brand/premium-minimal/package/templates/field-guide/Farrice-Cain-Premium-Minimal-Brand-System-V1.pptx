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83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CAIN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283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PERSONAL-BRAND SYSTEM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83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MINIMAL V1 · LOCAL REVIEW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594360"/>
            <a:ext cx="10872216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EXTERNAL ACTION</a:t>
            </a:r>
            <a:endParaRPr lang="en-US" sz="640" dirty="0"/>
          </a:p>
        </p:txBody>
      </p:sp>
      <p:sp>
        <p:nvSpPr>
          <p:cNvPr id="7" name="Text 5"/>
          <p:cNvSpPr/>
          <p:nvPr/>
        </p:nvSpPr>
        <p:spPr>
          <a:xfrm>
            <a:off x="10744200" y="6464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spc="10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/ 12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58368" y="10241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/ 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8368" y="157276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Cain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58368" y="2267712"/>
            <a:ext cx="841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Minimal</a:t>
            </a:r>
            <a:endParaRPr lang="en-US" sz="4200" dirty="0"/>
          </a:p>
          <a:p>
            <a:pPr algn="l" indent="0" marL="0">
              <a:buNone/>
            </a:pPr>
            <a:r>
              <a:rPr lang="en-US" sz="42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personal-brand system.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658368" y="4572000"/>
            <a:ext cx="10149840" cy="0"/>
          </a:xfrm>
          <a:prstGeom prst="line">
            <a:avLst/>
          </a:prstGeom>
          <a:noFill/>
          <a:ln w="40640">
            <a:solidFill>
              <a:srgbClr val="101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495604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Quiet enough for the judgment to stay in front.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" y="58704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LINKEDIN · CONTENT · OFFER · FUTURE ASSETS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83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CAIN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283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STRATEGIC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83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MINIMAL V1 · LOCAL REVIEW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594360"/>
            <a:ext cx="10872216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EXTERNAL ACTION</a:t>
            </a:r>
            <a:endParaRPr lang="en-US" sz="640" dirty="0"/>
          </a:p>
        </p:txBody>
      </p:sp>
      <p:sp>
        <p:nvSpPr>
          <p:cNvPr id="7" name="Text 5"/>
          <p:cNvSpPr/>
          <p:nvPr/>
        </p:nvSpPr>
        <p:spPr>
          <a:xfrm>
            <a:off x="10744200" y="6464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spc="10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12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BRAND IDEA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8368" y="1289304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Stronger arguments for honest products.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a newly approved public tagline. A decision rule for what belongs in the brand.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2971800"/>
            <a:ext cx="3401568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136392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 FOR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58368" y="345643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Honest products, real proof, sharper campaign arguments.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43400" y="2971800"/>
            <a:ext cx="3401568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3136392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REFUSE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343400" y="345643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Weak products made louder and fairy-dust doses turned heroic.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28432" y="2971800"/>
            <a:ext cx="3502152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28432" y="3136392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DECIDE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028432" y="3456432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campaign should argue before more creative is produced.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" y="4992624"/>
            <a:ext cx="10872216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37667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Honest products should not whisper.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83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FAFA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CAIN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283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A8A8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BRAND HIERARCHY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83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A8A8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MINIMAL V1 · LOCAL REVIEW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594360"/>
            <a:ext cx="10872216" cy="0"/>
          </a:xfrm>
          <a:prstGeom prst="line">
            <a:avLst/>
          </a:prstGeom>
          <a:noFill/>
          <a:ln w="6985">
            <a:solidFill>
              <a:srgbClr val="3A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spc="150" kern="0" dirty="0">
                <a:solidFill>
                  <a:srgbClr val="A8A8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EXTERNAL ACTION</a:t>
            </a:r>
            <a:endParaRPr lang="en-US" sz="640" dirty="0"/>
          </a:p>
        </p:txBody>
      </p:sp>
      <p:sp>
        <p:nvSpPr>
          <p:cNvPr id="7" name="Text 5"/>
          <p:cNvSpPr/>
          <p:nvPr/>
        </p:nvSpPr>
        <p:spPr>
          <a:xfrm>
            <a:off x="10744200" y="6464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spc="100" kern="0" dirty="0">
                <a:solidFill>
                  <a:srgbClr val="A8A8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/ 12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A8A8A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PARENT · ONE POINT OF VIEW · ONE FLAGSHIP OFFER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spc="120" kern="0" dirty="0">
                <a:solidFill>
                  <a:srgbClr val="FAFA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CAIN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658368" y="2212848"/>
            <a:ext cx="10149840" cy="0"/>
          </a:xfrm>
          <a:prstGeom prst="line">
            <a:avLst/>
          </a:prstGeom>
          <a:noFill/>
          <a:ln w="12700">
            <a:solidFill>
              <a:srgbClr val="3A3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624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Category point of view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063240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FCFC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reason to follow: product truth, buyer belief, and the argument before the assets.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28232" y="2624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Angle Map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28232" y="30632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FCFC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flagship paid expression—not the whole identity.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4261104"/>
            <a:ext cx="10149840" cy="0"/>
          </a:xfrm>
          <a:prstGeom prst="line">
            <a:avLst/>
          </a:prstGeom>
          <a:noFill/>
          <a:ln w="12700">
            <a:solidFill>
              <a:srgbClr val="3A3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736592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AFAF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the offer disappeared, the person and point of view must still make sense.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83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CAIN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283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83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MINIMAL V1 · LOCAL REVIEW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594360"/>
            <a:ext cx="10872216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EXTERNAL ACTION</a:t>
            </a:r>
            <a:endParaRPr lang="en-US" sz="640" dirty="0"/>
          </a:p>
        </p:txBody>
      </p:sp>
      <p:sp>
        <p:nvSpPr>
          <p:cNvPr id="7" name="Text 5"/>
          <p:cNvSpPr/>
          <p:nvPr/>
        </p:nvSpPr>
        <p:spPr>
          <a:xfrm>
            <a:off x="10744200" y="6464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spc="10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/ 12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PRIMARY BUYER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8368" y="1289304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Established supplement + performance brands with one live message decision.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658368" y="2788920"/>
            <a:ext cx="3401568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53512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HAVE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58368" y="3273552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real product and approved evidence.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34256" y="2788920"/>
            <a:ext cx="3401568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2953512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FACE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334256" y="3273552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launch, retail push, reformulation, repositioning, or creative cycle.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10144" y="2788920"/>
            <a:ext cx="3401568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0144" y="2953512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NEED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010144" y="3273552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campaign argument chosen before the team funds more production.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" y="4645152"/>
            <a:ext cx="10872216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956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FOR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58368" y="5376672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Pre-revenue ideas · finished campaign production · unsupported products · performance guarantees · replacement of qualified review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83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CAIN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283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AUTHORITY POSTURE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83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MINIMAL V1 · LOCAL REVIEW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594360"/>
            <a:ext cx="10872216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EXTERNAL ACTION</a:t>
            </a:r>
            <a:endParaRPr lang="en-US" sz="640" dirty="0"/>
          </a:p>
        </p:txBody>
      </p:sp>
      <p:sp>
        <p:nvSpPr>
          <p:cNvPr id="7" name="Text 5"/>
          <p:cNvSpPr/>
          <p:nvPr/>
        </p:nvSpPr>
        <p:spPr>
          <a:xfrm>
            <a:off x="10744200" y="6464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spc="10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/ 12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LIVED AUTHORITY EXACTLY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8368" y="1289304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Category fluency without borrowed performance proof.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58368" y="22494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61872" y="21671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years at The Vitamin Shoppe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58368" y="2660904"/>
            <a:ext cx="5010912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86207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61872" y="27797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Coaching since 2008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8368" y="3273552"/>
            <a:ext cx="5010912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4747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61872" y="33924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More than 1,000 people coached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58368" y="3886200"/>
            <a:ext cx="5010912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0873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61872" y="40050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Tier X at Equinox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58368" y="4498848"/>
            <a:ext cx="5010912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7000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61872" y="46177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Independent training + holistic coaching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58368" y="5111496"/>
            <a:ext cx="5010912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2167128"/>
            <a:ext cx="4736592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2331720"/>
            <a:ext cx="4736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EARNS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428232" y="2651760"/>
            <a:ext cx="4736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Fluency in goals, product choice, labels, doses, promises, and the distance between desire and support.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28232" y="3886200"/>
            <a:ext cx="4736592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4050792"/>
            <a:ext cx="4736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DOES NOT EARN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428232" y="4370832"/>
            <a:ext cx="4736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ROAS, conversion, revenue, medical, scientific, legal, regulatory, or compliance authority.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83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CAIN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283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CONTENT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83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MINIMAL V1 · LOCAL REVIEW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594360"/>
            <a:ext cx="10872216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EXTERNAL ACTION</a:t>
            </a:r>
            <a:endParaRPr lang="en-US" sz="640" dirty="0"/>
          </a:p>
        </p:txBody>
      </p:sp>
      <p:sp>
        <p:nvSpPr>
          <p:cNvPr id="7" name="Text 5"/>
          <p:cNvSpPr/>
          <p:nvPr/>
        </p:nvSpPr>
        <p:spPr>
          <a:xfrm>
            <a:off x="10744200" y="6464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spc="10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/ 12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LANES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8368" y="1289304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Depth creates recognition. Lived experience keeps it human.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58368" y="2331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1737360" y="23682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decision before the creative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37360" y="290779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Hooks versus angles · message fatigue disguised as creative fatigue · why production cannot resolve an undecided argument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72200" y="2331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7251192" y="236829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truth a buyer can believe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51192" y="2907792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Proof scope · formula transparency · dose judgment · where approved language stops and qualified review begins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8368" y="4343400"/>
            <a:ext cx="10872216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800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Retail and coaching are lived texture inside the lanes—not a third public identity lane.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" y="568756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CANDIDATE RHYTHM · 2 POINT OF VIEW · 1 LIVED/DEMO · 1 CONVERSION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83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CAIN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283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83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MINIMAL V1 · LOCAL REVIEW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594360"/>
            <a:ext cx="10872216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EXTERNAL ACTION</a:t>
            </a:r>
            <a:endParaRPr lang="en-US" sz="640" dirty="0"/>
          </a:p>
        </p:txBody>
      </p:sp>
      <p:sp>
        <p:nvSpPr>
          <p:cNvPr id="7" name="Text 5"/>
          <p:cNvSpPr/>
          <p:nvPr/>
        </p:nvSpPr>
        <p:spPr>
          <a:xfrm>
            <a:off x="10744200" y="6464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spc="10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/ 12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INVARIANTS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8368" y="128930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Sound spoken. Make the distinction. Own the recommendation.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658368" y="2331720"/>
            <a:ext cx="5047488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496312"/>
            <a:ext cx="5047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58368" y="2816352"/>
            <a:ext cx="50474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Recognizable scenes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thought per paragraph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Plain distinctions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Specific lived texture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 recommendations + trade-offs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0176" y="2331720"/>
            <a:ext cx="5550408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0176" y="2496312"/>
            <a:ext cx="5550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AVOID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80176" y="2816352"/>
            <a:ext cx="5550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Strategy jargon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Synthetic Farrice voice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Generic prestige claims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Endless options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Biography dumps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Inflated performance proof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5230368"/>
            <a:ext cx="10872216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55961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owns the final voice pass. Writers may structure and tighten; they may not fabricate personality.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83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CAIN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283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 DNA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83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MINIMAL V1 · LOCAL REVIEW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594360"/>
            <a:ext cx="10872216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EXTERNAL ACTION</a:t>
            </a:r>
            <a:endParaRPr lang="en-US" sz="640" dirty="0"/>
          </a:p>
        </p:txBody>
      </p:sp>
      <p:sp>
        <p:nvSpPr>
          <p:cNvPr id="7" name="Text 5"/>
          <p:cNvSpPr/>
          <p:nvPr/>
        </p:nvSpPr>
        <p:spPr>
          <a:xfrm>
            <a:off x="10744200" y="6464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spc="10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/ 12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MINIMAL V1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8368" y="1289304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family. One tonal system. Structure before decoration.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58368" y="2286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TYPOGRAPHY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58368" y="26700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Helvetica Neue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58368" y="32186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Weight, size, spacing, and position create hierarchy.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06440" y="2286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TONAL SYSTEM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806440" y="2697480"/>
            <a:ext cx="1325880" cy="658368"/>
          </a:xfrm>
          <a:prstGeom prst="rect">
            <a:avLst/>
          </a:prstGeom>
          <a:solidFill>
            <a:srgbClr val="F3F3F0"/>
          </a:solidFill>
          <a:ln w="10160">
            <a:solidFill>
              <a:srgbClr val="8C8C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35021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CANVAS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7434072" y="2697480"/>
            <a:ext cx="1325880" cy="658368"/>
          </a:xfrm>
          <a:prstGeom prst="rect">
            <a:avLst/>
          </a:prstGeom>
          <a:solidFill>
            <a:srgbClr val="FAFAF8"/>
          </a:solidFill>
          <a:ln w="10160">
            <a:solidFill>
              <a:srgbClr val="8C8C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4072" y="35021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PAPER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9061704" y="2697480"/>
            <a:ext cx="1325880" cy="658368"/>
          </a:xfrm>
          <a:prstGeom prst="rect">
            <a:avLst/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61704" y="35021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INK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5806440" y="3931920"/>
            <a:ext cx="1325880" cy="658368"/>
          </a:xfrm>
          <a:prstGeom prst="rect">
            <a:avLst/>
          </a:prstGeom>
          <a:solidFill>
            <a:srgbClr val="555553"/>
          </a:solidFill>
          <a:ln w="12700">
            <a:solidFill>
              <a:srgbClr val="5555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47365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GRAPHITE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7434072" y="3931920"/>
            <a:ext cx="1325880" cy="658368"/>
          </a:xfrm>
          <a:prstGeom prst="rect">
            <a:avLst/>
          </a:prstGeom>
          <a:solidFill>
            <a:srgbClr val="D8D8D3"/>
          </a:solidFill>
          <a:ln w="12700">
            <a:solidFill>
              <a:srgbClr val="D8D8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47365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9061704" y="3931920"/>
            <a:ext cx="1325880" cy="658368"/>
          </a:xfrm>
          <a:prstGeom prst="rect">
            <a:avLst/>
          </a:prstGeom>
          <a:solidFill>
            <a:srgbClr val="8C8C82"/>
          </a:solidFill>
          <a:ln w="12700">
            <a:solidFill>
              <a:srgbClr val="8C8C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1704" y="47365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2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STONE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658368" y="5074920"/>
            <a:ext cx="10872216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548640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serif · no gradients · no shadows · no pills · no badges · no icons · no route colors · no luxury theater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83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CAIN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283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VISUAL MODES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83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MINIMAL V1 · LOCAL REVIEW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594360"/>
            <a:ext cx="10872216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EXTERNAL ACTION</a:t>
            </a:r>
            <a:endParaRPr lang="en-US" sz="640" dirty="0"/>
          </a:p>
        </p:txBody>
      </p:sp>
      <p:sp>
        <p:nvSpPr>
          <p:cNvPr id="7" name="Text 5"/>
          <p:cNvSpPr/>
          <p:nvPr/>
        </p:nvSpPr>
        <p:spPr>
          <a:xfrm>
            <a:off x="10744200" y="6464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spc="10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/ 12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SYSTEM. DIFFERENT JOB.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8368" y="1289304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person leads evergreen authority. The offer leads offer-specific assets.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58368" y="2331720"/>
            <a:ext cx="5029200" cy="0"/>
          </a:xfrm>
          <a:prstGeom prst="line">
            <a:avLst/>
          </a:prstGeom>
          <a:noFill/>
          <a:ln w="35560">
            <a:solidFill>
              <a:srgbClr val="1010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517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MASTER-BRAND MODE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58368" y="312724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spc="110" kern="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CAIN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58368" y="3822192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 of view, lived observation, teardown, or framework. Offer reference only when relevant.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28232" y="2331720"/>
            <a:ext cx="4736592" cy="0"/>
          </a:xfrm>
          <a:prstGeom prst="line">
            <a:avLst/>
          </a:prstGeom>
          <a:noFill/>
          <a:ln w="35560">
            <a:solidFill>
              <a:srgbClr val="1010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6517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OFFER MODE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28232" y="312724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spc="110" kern="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ANGLE MAP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428232" y="3822192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campaign arguments and one lead recommendation. Farrice Cain remains the author.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5047488"/>
            <a:ext cx="10506456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46811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the three-route motif only when choices are truly being compared.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83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CAIN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283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LINKEDIN BUYER PATH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83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MINIMAL V1 · LOCAL REVIEW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594360"/>
            <a:ext cx="10872216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EXTERNAL ACTION</a:t>
            </a:r>
            <a:endParaRPr lang="en-US" sz="640" dirty="0"/>
          </a:p>
        </p:txBody>
      </p:sp>
      <p:sp>
        <p:nvSpPr>
          <p:cNvPr id="7" name="Text 5"/>
          <p:cNvSpPr/>
          <p:nvPr/>
        </p:nvSpPr>
        <p:spPr>
          <a:xfrm>
            <a:off x="10744200" y="6464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spc="10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PATH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8368" y="1289304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Recognition earns the click. Proof earns attention. The offer earns the DM.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58368" y="2331720"/>
            <a:ext cx="3401568" cy="0"/>
          </a:xfrm>
          <a:prstGeom prst="line">
            <a:avLst/>
          </a:prstGeom>
          <a:noFill/>
          <a:ln w="9525">
            <a:solidFill>
              <a:srgbClr val="D8D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511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Banner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9535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Object + outcome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34256" y="2331720"/>
            <a:ext cx="3401568" cy="0"/>
          </a:xfrm>
          <a:prstGeom prst="line">
            <a:avLst/>
          </a:prstGeom>
          <a:noFill/>
          <a:ln w="9525">
            <a:solidFill>
              <a:srgbClr val="D8D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4256" y="25511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64608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Headline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864608" y="29535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Buyer + role + action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10144" y="2331720"/>
            <a:ext cx="3401568" cy="0"/>
          </a:xfrm>
          <a:prstGeom prst="line">
            <a:avLst/>
          </a:prstGeom>
          <a:noFill/>
          <a:ln w="9525">
            <a:solidFill>
              <a:srgbClr val="D8D8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0144" y="25511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40496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About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40496" y="29535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Scene + mechanics + authority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" y="3813048"/>
            <a:ext cx="3401568" cy="0"/>
          </a:xfrm>
          <a:prstGeom prst="line">
            <a:avLst/>
          </a:prstGeom>
          <a:noFill/>
          <a:ln w="9525">
            <a:solidFill>
              <a:srgbClr val="D8D8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03250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8872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88720" y="4434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Belief / offer / proof later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34256" y="3813048"/>
            <a:ext cx="3401568" cy="0"/>
          </a:xfrm>
          <a:prstGeom prst="line">
            <a:avLst/>
          </a:prstGeom>
          <a:noFill/>
          <a:ln w="9525">
            <a:solidFill>
              <a:srgbClr val="D8D8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34256" y="403250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64608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Content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864608" y="4434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lanes, repeated deeply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10144" y="3813048"/>
            <a:ext cx="3401568" cy="0"/>
          </a:xfrm>
          <a:prstGeom prst="line">
            <a:avLst/>
          </a:prstGeom>
          <a:noFill/>
          <a:ln w="40640">
            <a:solidFill>
              <a:srgbClr val="1010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10144" y="403250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40496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DM ANGLE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540496" y="4434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commercial action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8368" y="56235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P1 B REMAINS VERBATIM · A REMAINS THE CLARITY GUARD · C REMAINS REJECTED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83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CAIN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283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ASSET FAMILY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83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MINIMAL V1 · LOCAL REVIEW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594360"/>
            <a:ext cx="10872216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EXTERNAL ACTION</a:t>
            </a:r>
            <a:endParaRPr lang="en-US" sz="640" dirty="0"/>
          </a:p>
        </p:txBody>
      </p:sp>
      <p:sp>
        <p:nvSpPr>
          <p:cNvPr id="7" name="Text 5"/>
          <p:cNvSpPr/>
          <p:nvPr/>
        </p:nvSpPr>
        <p:spPr>
          <a:xfrm>
            <a:off x="10744200" y="6464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spc="10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12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FORMATS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8368" y="1289304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Enough to repeat. Small enough to stay coherent.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658368" y="2148840"/>
            <a:ext cx="5148072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500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22951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LinkedIn banner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5848" y="23042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Launch-mode profile cover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163056" y="2148840"/>
            <a:ext cx="5148072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23500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93408" y="22951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Featured / article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0536" y="23042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Belief and offer covers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58368" y="3291840"/>
            <a:ext cx="5148072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4930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88720" y="34381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insight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55848" y="34472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argument in the feed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163056" y="3291840"/>
            <a:ext cx="5148072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34930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693408" y="34381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 / carousel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60536" y="34472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point per page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58368" y="4434840"/>
            <a:ext cx="5148072" cy="0"/>
          </a:xfrm>
          <a:prstGeom prst="line">
            <a:avLst/>
          </a:prstGeom>
          <a:noFill/>
          <a:ln w="30480">
            <a:solidFill>
              <a:srgbClr val="1010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6360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88720" y="45811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Angle / decision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55848" y="45902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the deliverable grammar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163056" y="4434840"/>
            <a:ext cx="5148072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46360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8C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93408" y="45811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Proof boundary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60536" y="45902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Teach the evidence line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658368" y="5760720"/>
            <a:ext cx="10872216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603504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format must survive at 320 px, preserve one-third open space, and carry no more than three hierarchy levels.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83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CAIN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0" y="283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21040" y="283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MINIMAL V1 · LOCAL REVIEW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594360"/>
            <a:ext cx="10872216" cy="0"/>
          </a:xfrm>
          <a:prstGeom prst="line">
            <a:avLst/>
          </a:prstGeom>
          <a:noFill/>
          <a:ln w="6985">
            <a:solidFill>
              <a:srgbClr val="D8D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EXTERNAL ACTION</a:t>
            </a:r>
            <a:endParaRPr lang="en-US" sz="640" dirty="0"/>
          </a:p>
        </p:txBody>
      </p:sp>
      <p:sp>
        <p:nvSpPr>
          <p:cNvPr id="7" name="Text 5"/>
          <p:cNvSpPr/>
          <p:nvPr/>
        </p:nvSpPr>
        <p:spPr>
          <a:xfrm>
            <a:off x="10744200" y="64648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spc="10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/ 12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APPROVAL STATE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8368" y="128930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Preserve the primary. Keep candidates visible. Never let rejected work drift back in.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58368" y="2331720"/>
            <a:ext cx="3401568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496312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LOCKED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58368" y="2816352"/>
            <a:ext cx="34015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Farrice master brand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P2-01 visual parent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P1 B copy primary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offer + one CTA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Zero-proof boundary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2331720"/>
            <a:ext cx="3401568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496312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CANDIDATE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343400" y="2816352"/>
            <a:ext cx="34015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Evergreen banner line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Photography frequency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Four-piece editorial rhythm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new template exports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28432" y="2331720"/>
            <a:ext cx="3502152" cy="0"/>
          </a:xfrm>
          <a:prstGeom prst="line">
            <a:avLst/>
          </a:prstGeom>
          <a:noFill/>
          <a:ln w="8255">
            <a:solidFill>
              <a:srgbClr val="D8D8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2496312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555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REJECTED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028432" y="2816352"/>
            <a:ext cx="35021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C-style abstraction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Editorial Cartography V0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Fiction as client proof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Unconfirmed credentials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Decorative route coding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" y="5230368"/>
            <a:ext cx="10872216" cy="0"/>
          </a:xfrm>
          <a:prstGeom prst="line">
            <a:avLst/>
          </a:prstGeom>
          <a:noFill/>
          <a:ln w="30480">
            <a:solidFill>
              <a:srgbClr val="1010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55955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101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External action still requires separate approval.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Farrice Cain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Farrice Cain Premium Minimal Brand System V1</dc:title>
  <dc:subject>Farrice Cain Premium Minimal personal-brand system</dc:subject>
  <dc:creator>Farrice Cain</dc:creator>
  <cp:lastModifiedBy>Farrice Cain</cp:lastModifiedBy>
  <cp:revision>1</cp:revision>
  <dcterms:created xsi:type="dcterms:W3CDTF">2026-08-01T16:57:21Z</dcterms:created>
  <dcterms:modified xsi:type="dcterms:W3CDTF">2026-08-01T16:57:21Z</dcterms:modified>
</cp:coreProperties>
</file>